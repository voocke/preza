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7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354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5128E-25BF-540C-C4B6-3E551A20F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BF303-CC7A-CEA1-3ABE-4533918BE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24862-8526-68B5-9A45-B513BAB0C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634C2-9B6D-08ED-C4FE-E2AE28302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24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 /><Relationship Id="rId3" Type="http://schemas.openxmlformats.org/officeDocument/2006/relationships/image" Target="../media/image13.jpeg" /><Relationship Id="rId7" Type="http://schemas.openxmlformats.org/officeDocument/2006/relationships/image" Target="../media/image1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6.png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2.png" /><Relationship Id="rId5" Type="http://schemas.openxmlformats.org/officeDocument/2006/relationships/image" Target="../media/image21.png" /><Relationship Id="rId4" Type="http://schemas.openxmlformats.org/officeDocument/2006/relationships/image" Target="../media/image20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4" Type="http://schemas.openxmlformats.org/officeDocument/2006/relationships/image" Target="../media/image24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kern="0" spc="2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PETROVSKIY COLLEGE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113532" y="2214116"/>
            <a:ext cx="6916936" cy="1015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3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Virtual Private Networks (VPN)</a:t>
            </a:r>
            <a:endParaRPr lang="en-US" sz="3300" dirty="0"/>
          </a:p>
          <a:p>
            <a:pPr marL="0" indent="0" algn="ctr">
              <a:buNone/>
            </a:pP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357313" y="2910632"/>
            <a:ext cx="6429375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methods for ensuring security and privacy in global networks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88048" y="4755952"/>
            <a:ext cx="365485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73018" y="4100513"/>
            <a:ext cx="2427339" cy="108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Student: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Timofeev Ivan
</a:t>
            </a:r>
            <a:r>
              <a:rPr lang="en-US" sz="12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Group: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53-02
</a:t>
            </a:r>
            <a:r>
              <a:rPr lang="en-US" sz="12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Teacher: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Latysheva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Victoria</a:t>
            </a:r>
            <a:endParaRPr lang="en-US" sz="1400" dirty="0"/>
          </a:p>
          <a:p>
            <a:pPr marL="0" indent="0" algn="l">
              <a:lnSpc>
                <a:spcPct val="128000"/>
              </a:lnSpc>
              <a:buNone/>
            </a:pPr>
            <a:endParaRPr lang="en-US" sz="1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983DF78D-1F6E-5EDC-8BAB-C8333DDD525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3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843" y="588985"/>
            <a:ext cx="570312" cy="570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Presentation Outline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57250" y="1527618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321023" y="1527618"/>
            <a:ext cx="295431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ru-RU" dirty="0" err="1"/>
              <a:t>Definition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Purpose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VPN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57250" y="1983032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363" y="1983032"/>
            <a:ext cx="4218187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Mechanisms: Encryption and Tunneling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57250" y="2438447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1023" y="2438447"/>
            <a:ext cx="3754611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of VPN Architectures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57250" y="2893861"/>
            <a:ext cx="22502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5363" y="2893861"/>
            <a:ext cx="6304162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/>
              <a:t>Modern Protocols Overview (</a:t>
            </a:r>
            <a:r>
              <a:rPr lang="en-US" dirty="0" err="1"/>
              <a:t>Vless</a:t>
            </a:r>
            <a:r>
              <a:rPr lang="en-US" dirty="0"/>
              <a:t>, </a:t>
            </a:r>
            <a:r>
              <a:rPr lang="en-US" dirty="0" err="1"/>
              <a:t>WireGuard</a:t>
            </a:r>
            <a:r>
              <a:rPr lang="en-US" dirty="0"/>
              <a:t>, IKEv2/IPsec)</a:t>
            </a:r>
          </a:p>
        </p:txBody>
      </p:sp>
      <p:sp>
        <p:nvSpPr>
          <p:cNvPr id="12" name="Text 9"/>
          <p:cNvSpPr/>
          <p:nvPr/>
        </p:nvSpPr>
        <p:spPr>
          <a:xfrm>
            <a:off x="857250" y="3349275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21536" y="3349275"/>
            <a:ext cx="3809462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Benefits and Limitations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57250" y="3804689"/>
            <a:ext cx="2857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10289" y="3804689"/>
            <a:ext cx="2608057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and Conclusion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779669" y="4702373"/>
            <a:ext cx="11702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6621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VPN — A Secure Bridge in the Internet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67461" y="1089080"/>
            <a:ext cx="90011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Virtuality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67461" y="1440578"/>
            <a:ext cx="4643438" cy="571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 is created programmatically on top of existing physical internet infrastructure.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7461" y="2217793"/>
            <a:ext cx="68480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Privacy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67461" y="2514428"/>
            <a:ext cx="4643438" cy="571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Hiding the real IP address protects the user from profiling and surveillance.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7461" y="3346505"/>
            <a:ext cx="89607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7461" y="3631633"/>
            <a:ext cx="4643438" cy="571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600" dirty="0" err="1"/>
              <a:t>Using</a:t>
            </a:r>
            <a:r>
              <a:rPr lang="ru-RU" sz="1600" dirty="0"/>
              <a:t> </a:t>
            </a:r>
            <a:r>
              <a:rPr lang="ru-RU" sz="1600" dirty="0" err="1"/>
              <a:t>cryptographic</a:t>
            </a:r>
            <a:r>
              <a:rPr lang="ru-RU" sz="1600" dirty="0"/>
              <a:t> </a:t>
            </a:r>
            <a:r>
              <a:rPr lang="ru-RU" sz="1600" dirty="0" err="1"/>
              <a:t>methods</a:t>
            </a:r>
            <a:r>
              <a:rPr lang="ru-RU" sz="1600" dirty="0"/>
              <a:t> </a:t>
            </a:r>
            <a:r>
              <a:rPr lang="ru-RU" sz="1600" dirty="0" err="1"/>
              <a:t>guarantees</a:t>
            </a:r>
            <a:r>
              <a:rPr lang="ru-RU" sz="1600" dirty="0"/>
              <a:t> </a:t>
            </a:r>
            <a:r>
              <a:rPr lang="ru-RU" sz="1600" dirty="0" err="1"/>
              <a:t>the</a:t>
            </a:r>
            <a:r>
              <a:rPr lang="ru-RU" sz="1600" dirty="0"/>
              <a:t> </a:t>
            </a:r>
            <a:r>
              <a:rPr lang="ru-RU" sz="1600" dirty="0" err="1"/>
              <a:t>integrity</a:t>
            </a:r>
            <a:r>
              <a:rPr lang="ru-RU" sz="1600" dirty="0"/>
              <a:t> </a:t>
            </a:r>
            <a:r>
              <a:rPr lang="ru-RU" sz="1600" dirty="0" err="1"/>
              <a:t>and</a:t>
            </a:r>
            <a:r>
              <a:rPr lang="ru-RU" sz="1600" dirty="0"/>
              <a:t> </a:t>
            </a:r>
            <a:r>
              <a:rPr lang="ru-RU" sz="1600" dirty="0" err="1"/>
              <a:t>confidentiality</a:t>
            </a:r>
            <a:r>
              <a:rPr lang="ru-RU" sz="1600" dirty="0"/>
              <a:t> </a:t>
            </a:r>
            <a:r>
              <a:rPr lang="ru-RU" sz="1600" dirty="0" err="1"/>
              <a:t>of</a:t>
            </a:r>
            <a:r>
              <a:rPr lang="ru-RU" sz="1600" dirty="0"/>
              <a:t> </a:t>
            </a:r>
            <a:r>
              <a:rPr lang="ru-RU" sz="1600" dirty="0" err="1"/>
              <a:t>transmitted</a:t>
            </a:r>
            <a:r>
              <a:rPr lang="ru-RU" sz="1600" dirty="0"/>
              <a:t> </a:t>
            </a:r>
            <a:r>
              <a:rPr lang="ru-RU" sz="1600" dirty="0" err="1"/>
              <a:t>traffic</a:t>
            </a:r>
            <a:r>
              <a:rPr lang="ru-RU" sz="1600" dirty="0"/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72188" y="1641918"/>
            <a:ext cx="2143125" cy="21431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313" y="2212259"/>
            <a:ext cx="1054873" cy="10548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79669" y="4702373"/>
            <a:ext cx="11702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71" t="-2217" r="71" b="2217"/>
          <a:stretch>
            <a:fillRect/>
          </a:stretch>
        </p:blipFill>
        <p:spPr>
          <a:xfrm>
            <a:off x="0" y="-30262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89559" y="395815"/>
            <a:ext cx="4764881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VPN Protects Your Data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75" y="1886229"/>
            <a:ext cx="500063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51007" y="2814917"/>
            <a:ext cx="2286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Encryption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51007" y="3457854"/>
            <a:ext cx="2286000" cy="926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Converting information into unreadable code that cannot be decrypted without a specific cryptographic key.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5757" y="1886229"/>
            <a:ext cx="571500" cy="571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08507" y="2814917"/>
            <a:ext cx="2286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Tunneling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208507" y="3457854"/>
            <a:ext cx="2286000" cy="926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Encapsulating data packets in a secure shell for their safe transportation through open networks.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820" y="1886229"/>
            <a:ext cx="714375" cy="571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66007" y="2814917"/>
            <a:ext cx="2286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066007" y="3457854"/>
            <a:ext cx="2286000" cy="690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ru-RU" sz="1200" dirty="0" err="1"/>
              <a:t>Verifying</a:t>
            </a:r>
            <a:r>
              <a:rPr lang="ru-RU" sz="1200" dirty="0"/>
              <a:t> </a:t>
            </a: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identity</a:t>
            </a:r>
            <a:r>
              <a:rPr lang="ru-RU" sz="1200" dirty="0"/>
              <a:t> </a:t>
            </a:r>
            <a:r>
              <a:rPr lang="ru-RU" sz="1200" dirty="0" err="1"/>
              <a:t>of</a:t>
            </a:r>
            <a:r>
              <a:rPr lang="ru-RU" sz="1200" dirty="0"/>
              <a:t> </a:t>
            </a: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user</a:t>
            </a:r>
            <a:r>
              <a:rPr lang="ru-RU" sz="1200" dirty="0"/>
              <a:t> </a:t>
            </a:r>
            <a:r>
              <a:rPr lang="ru-RU" sz="1200" dirty="0" err="1"/>
              <a:t>and</a:t>
            </a:r>
            <a:r>
              <a:rPr lang="ru-RU" sz="1200" dirty="0"/>
              <a:t> </a:t>
            </a: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server</a:t>
            </a:r>
            <a:r>
              <a:rPr lang="ru-RU" sz="1200" dirty="0"/>
              <a:t> </a:t>
            </a:r>
            <a:r>
              <a:rPr lang="ru-RU" sz="1200" dirty="0" err="1"/>
              <a:t>to</a:t>
            </a:r>
            <a:r>
              <a:rPr lang="ru-RU" sz="1200" dirty="0"/>
              <a:t> </a:t>
            </a:r>
            <a:r>
              <a:rPr lang="ru-RU" sz="1200" dirty="0" err="1"/>
              <a:t>prevent</a:t>
            </a:r>
            <a:r>
              <a:rPr lang="ru-RU" sz="1200" dirty="0"/>
              <a:t> </a:t>
            </a:r>
            <a:r>
              <a:rPr lang="ru-RU" sz="1200" dirty="0" err="1"/>
              <a:t>unauthorized</a:t>
            </a:r>
            <a:r>
              <a:rPr lang="ru-RU" sz="1200" dirty="0"/>
              <a:t> </a:t>
            </a:r>
            <a:r>
              <a:rPr lang="ru-RU" sz="1200" dirty="0" err="1"/>
              <a:t>access</a:t>
            </a:r>
            <a:r>
              <a:rPr lang="ru-RU" sz="1200" dirty="0"/>
              <a:t> </a:t>
            </a:r>
            <a:r>
              <a:rPr lang="ru-RU" sz="1200" dirty="0" err="1"/>
              <a:t>and</a:t>
            </a:r>
            <a:r>
              <a:rPr lang="ru-RU" sz="1200" dirty="0"/>
              <a:t> MITM </a:t>
            </a:r>
            <a:r>
              <a:rPr lang="ru-RU" sz="1200" dirty="0" err="1"/>
              <a:t>attacks</a:t>
            </a:r>
            <a:r>
              <a:rPr lang="ru-RU" sz="1200" dirty="0"/>
              <a:t>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774311" y="4702373"/>
            <a:ext cx="11702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53841" y="409720"/>
            <a:ext cx="4836319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VPN Types for Various Tasks</a:t>
            </a: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3" y="1916953"/>
            <a:ext cx="714375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768845"/>
            <a:ext cx="2286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Remote Access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71500" y="3411782"/>
            <a:ext cx="2286000" cy="926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ru-RU" sz="1200" dirty="0" err="1"/>
              <a:t>Allows</a:t>
            </a:r>
            <a:r>
              <a:rPr lang="ru-RU" sz="1200" dirty="0"/>
              <a:t> </a:t>
            </a:r>
            <a:r>
              <a:rPr lang="ru-RU" sz="1200" dirty="0" err="1"/>
              <a:t>employees</a:t>
            </a:r>
            <a:r>
              <a:rPr lang="ru-RU" sz="1200" dirty="0"/>
              <a:t> </a:t>
            </a:r>
            <a:r>
              <a:rPr lang="ru-RU" sz="1200" dirty="0" err="1"/>
              <a:t>to</a:t>
            </a:r>
            <a:r>
              <a:rPr lang="ru-RU" sz="1200" dirty="0"/>
              <a:t> </a:t>
            </a:r>
            <a:r>
              <a:rPr lang="ru-RU" sz="1200" dirty="0" err="1"/>
              <a:t>securely</a:t>
            </a:r>
            <a:r>
              <a:rPr lang="ru-RU" sz="1200" dirty="0"/>
              <a:t> </a:t>
            </a:r>
            <a:r>
              <a:rPr lang="ru-RU" sz="1200" dirty="0" err="1"/>
              <a:t>connect</a:t>
            </a:r>
            <a:r>
              <a:rPr lang="ru-RU" sz="1200" dirty="0"/>
              <a:t> </a:t>
            </a:r>
            <a:r>
              <a:rPr lang="ru-RU" sz="1200" dirty="0" err="1"/>
              <a:t>to</a:t>
            </a:r>
            <a:r>
              <a:rPr lang="ru-RU" sz="1200" dirty="0"/>
              <a:t> </a:t>
            </a:r>
            <a:r>
              <a:rPr lang="ru-RU" sz="1200" dirty="0" err="1"/>
              <a:t>internal</a:t>
            </a:r>
            <a:r>
              <a:rPr lang="ru-RU" sz="1200" dirty="0"/>
              <a:t> </a:t>
            </a:r>
            <a:r>
              <a:rPr lang="ru-RU" sz="1200" dirty="0" err="1"/>
              <a:t>company</a:t>
            </a:r>
            <a:r>
              <a:rPr lang="ru-RU" sz="1200" dirty="0"/>
              <a:t> </a:t>
            </a:r>
            <a:r>
              <a:rPr lang="ru-RU" sz="1200" dirty="0" err="1"/>
              <a:t>resources</a:t>
            </a:r>
            <a:r>
              <a:rPr lang="ru-RU" sz="1200" dirty="0"/>
              <a:t> </a:t>
            </a:r>
            <a:r>
              <a:rPr lang="ru-RU" sz="1200" dirty="0" err="1"/>
              <a:t>from</a:t>
            </a:r>
            <a:r>
              <a:rPr lang="ru-RU" sz="1200" dirty="0"/>
              <a:t> </a:t>
            </a:r>
            <a:r>
              <a:rPr lang="ru-RU" sz="1200" dirty="0" err="1"/>
              <a:t>anywhere</a:t>
            </a:r>
            <a:r>
              <a:rPr lang="ru-RU" sz="1200" dirty="0"/>
              <a:t>, </a:t>
            </a:r>
            <a:r>
              <a:rPr lang="ru-RU" sz="1200" dirty="0" err="1"/>
              <a:t>creating</a:t>
            </a:r>
            <a:r>
              <a:rPr lang="ru-RU" sz="1200" dirty="0"/>
              <a:t> a </a:t>
            </a:r>
            <a:r>
              <a:rPr lang="ru-RU" sz="1200" dirty="0" err="1"/>
              <a:t>presence</a:t>
            </a:r>
            <a:r>
              <a:rPr lang="ru-RU" sz="1200" dirty="0"/>
              <a:t> </a:t>
            </a:r>
            <a:r>
              <a:rPr lang="ru-RU" sz="1200" dirty="0" err="1"/>
              <a:t>effect</a:t>
            </a:r>
            <a:r>
              <a:rPr lang="ru-RU" sz="1200" dirty="0"/>
              <a:t> </a:t>
            </a:r>
            <a:r>
              <a:rPr lang="ru-RU" sz="1200" dirty="0" err="1"/>
              <a:t>in</a:t>
            </a:r>
            <a:r>
              <a:rPr lang="ru-RU" sz="1200" dirty="0"/>
              <a:t> </a:t>
            </a: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office</a:t>
            </a:r>
            <a:r>
              <a:rPr lang="ru-RU" sz="1200" dirty="0"/>
              <a:t>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3" y="1916953"/>
            <a:ext cx="714375" cy="571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9000" y="2768845"/>
            <a:ext cx="2286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Site-to-Site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429000" y="3411782"/>
            <a:ext cx="2286000" cy="1163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geographically distributed offices into a single secure corporate network through public communication channels.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313" y="1916953"/>
            <a:ext cx="714375" cy="571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6500" y="2768845"/>
            <a:ext cx="22860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 Protection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286500" y="3411782"/>
            <a:ext cx="2286000" cy="926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by individuals to ensure anonymity, bypass censorship, and protect data in insecure public Wi-Fi networks.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781455" y="4702373"/>
            <a:ext cx="11702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151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0707" y="374110"/>
            <a:ext cx="6402586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VPN Became a Security Standard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945" y="1833014"/>
            <a:ext cx="416224" cy="4756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490239"/>
            <a:ext cx="17859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Online Anonymity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3047451"/>
            <a:ext cx="1785938" cy="8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Masking the digital footprint and protecting browsing history from internet service providers.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1844" y="1833014"/>
            <a:ext cx="428625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43188" y="2490239"/>
            <a:ext cx="17859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Global Access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2643188" y="3047451"/>
            <a:ext cx="1785938" cy="8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to servers in different countries to access regional entertainment content.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9953" y="1833014"/>
            <a:ext cx="535781" cy="428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14875" y="2490239"/>
            <a:ext cx="17859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Wi-Fi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714875" y="3047451"/>
            <a:ext cx="1785938" cy="8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Preventing theft of passwords and personal data when using open hotspots.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8430" y="1833014"/>
            <a:ext cx="482203" cy="4286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86563" y="2490239"/>
            <a:ext cx="17859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Economic Benefit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786563" y="3047451"/>
            <a:ext cx="1785938" cy="8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against price discrimination based on your geographic location.</a:t>
            </a:r>
            <a:endParaRPr lang="en-US" sz="12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14F5E87-3A36-C7BB-7414-CB59314A69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1" y="4566532"/>
            <a:ext cx="545559" cy="4344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331761"/>
            <a:ext cx="91440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VPN Popularity Dynamics Worldwide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4" y="1081464"/>
            <a:ext cx="4286250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71686" y="4307292"/>
            <a:ext cx="5000625" cy="453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1.5 billion people regularly use VPN services. 
</a:t>
            </a:r>
            <a:r>
              <a:rPr lang="en-US" sz="12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remains the top priority for 43% of users worldwide.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784621" y="4668890"/>
            <a:ext cx="11702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3191"/>
          <a:stretch>
            <a:fillRect/>
          </a:stretch>
        </p:blipFill>
        <p:spPr>
          <a:xfrm>
            <a:off x="0" y="0"/>
            <a:ext cx="9144000" cy="49793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7281" y="373027"/>
            <a:ext cx="692943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Choosing a Protocol: Speed vs. Reliability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225" y="1849087"/>
            <a:ext cx="40005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2563462"/>
            <a:ext cx="2286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Vless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57250" y="2934937"/>
            <a:ext cx="2286000" cy="1163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industry gold standard with open-source code. Provides maximum configuration flexibility and the highest security level for all network types.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0" y="1849087"/>
            <a:ext cx="3429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29000" y="2563462"/>
            <a:ext cx="2286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WireGuard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429000" y="2934937"/>
            <a:ext cx="2286000" cy="116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revolutionary protocol with minimalistic code. Ensures record-breaking connection speeds and instant connection with minimal CPU overhead.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1849087"/>
            <a:ext cx="3429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00750" y="2563462"/>
            <a:ext cx="2286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IKEv2/IPsec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000750" y="2934937"/>
            <a:ext cx="2286000" cy="1163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optimal</a:t>
            </a:r>
            <a:r>
              <a:rPr lang="ru-RU" sz="1200" dirty="0"/>
              <a:t> </a:t>
            </a:r>
            <a:r>
              <a:rPr lang="ru-RU" sz="1200" dirty="0" err="1"/>
              <a:t>solution</a:t>
            </a:r>
            <a:r>
              <a:rPr lang="ru-RU" sz="1200" dirty="0"/>
              <a:t> </a:t>
            </a:r>
            <a:r>
              <a:rPr lang="ru-RU" sz="1200" dirty="0" err="1"/>
              <a:t>for</a:t>
            </a:r>
            <a:r>
              <a:rPr lang="ru-RU" sz="1200" dirty="0"/>
              <a:t> </a:t>
            </a:r>
            <a:r>
              <a:rPr lang="ru-RU" sz="1200" dirty="0" err="1"/>
              <a:t>mobile</a:t>
            </a:r>
            <a:r>
              <a:rPr lang="ru-RU" sz="1200" dirty="0"/>
              <a:t> </a:t>
            </a:r>
            <a:r>
              <a:rPr lang="ru-RU" sz="1200" dirty="0" err="1"/>
              <a:t>devices</a:t>
            </a:r>
            <a:r>
              <a:rPr lang="ru-RU" sz="1200" dirty="0"/>
              <a:t>. </a:t>
            </a:r>
            <a:r>
              <a:rPr lang="ru-RU" sz="1200" dirty="0" err="1"/>
              <a:t>Features</a:t>
            </a:r>
            <a:r>
              <a:rPr lang="ru-RU" sz="1200" dirty="0"/>
              <a:t> </a:t>
            </a:r>
            <a:r>
              <a:rPr lang="ru-RU" sz="1200" dirty="0" err="1"/>
              <a:t>exceptional</a:t>
            </a:r>
            <a:r>
              <a:rPr lang="ru-RU" sz="1200" dirty="0"/>
              <a:t> </a:t>
            </a:r>
            <a:r>
              <a:rPr lang="ru-RU" sz="1200" dirty="0" err="1"/>
              <a:t>stability</a:t>
            </a:r>
            <a:r>
              <a:rPr lang="ru-RU" sz="1200" dirty="0"/>
              <a:t> </a:t>
            </a:r>
            <a:r>
              <a:rPr lang="ru-RU" sz="1200" dirty="0" err="1"/>
              <a:t>and</a:t>
            </a:r>
            <a:r>
              <a:rPr lang="ru-RU" sz="1200" dirty="0"/>
              <a:t> </a:t>
            </a: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ability</a:t>
            </a:r>
            <a:r>
              <a:rPr lang="ru-RU" sz="1200" dirty="0"/>
              <a:t> </a:t>
            </a:r>
            <a:r>
              <a:rPr lang="ru-RU" sz="1200" dirty="0" err="1"/>
              <a:t>to</a:t>
            </a:r>
            <a:r>
              <a:rPr lang="ru-RU" sz="1200" dirty="0"/>
              <a:t> </a:t>
            </a:r>
            <a:r>
              <a:rPr lang="ru-RU" sz="1200" dirty="0" err="1"/>
              <a:t>instantly</a:t>
            </a:r>
            <a:r>
              <a:rPr lang="ru-RU" sz="1200" dirty="0"/>
              <a:t> </a:t>
            </a:r>
            <a:r>
              <a:rPr lang="ru-RU" sz="1200" dirty="0" err="1"/>
              <a:t>restore</a:t>
            </a:r>
            <a:r>
              <a:rPr lang="ru-RU" sz="1200" dirty="0"/>
              <a:t> </a:t>
            </a:r>
            <a:r>
              <a:rPr lang="ru-RU" sz="1200" dirty="0" err="1"/>
              <a:t>connections</a:t>
            </a:r>
            <a:r>
              <a:rPr lang="ru-RU" sz="1200" dirty="0"/>
              <a:t> </a:t>
            </a:r>
            <a:r>
              <a:rPr lang="ru-RU" sz="1200" dirty="0" err="1"/>
              <a:t>when</a:t>
            </a:r>
            <a:r>
              <a:rPr lang="ru-RU" sz="1200" dirty="0"/>
              <a:t> </a:t>
            </a:r>
            <a:r>
              <a:rPr lang="ru-RU" sz="1200" dirty="0" err="1"/>
              <a:t>switching</a:t>
            </a:r>
            <a:r>
              <a:rPr lang="ru-RU" sz="1200" dirty="0"/>
              <a:t> </a:t>
            </a:r>
            <a:r>
              <a:rPr lang="ru-RU" sz="1200" dirty="0" err="1"/>
              <a:t>networks</a:t>
            </a:r>
            <a:r>
              <a:rPr lang="ru-RU" sz="1200" dirty="0"/>
              <a:t>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777883" y="4702373"/>
            <a:ext cx="11702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8655" y="593015"/>
            <a:ext cx="85725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Should You Pay Attention To?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14" y="1486068"/>
            <a:ext cx="25717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0125" y="1499043"/>
            <a:ext cx="42148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Drop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00125" y="1866947"/>
            <a:ext cx="4214813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 overhead and server distance can lead to a 10-20% loss in internet speed during active connection.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2" y="2683134"/>
            <a:ext cx="1714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0125" y="2695622"/>
            <a:ext cx="42148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Logging Policy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000125" y="3063525"/>
            <a:ext cx="4214813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200" dirty="0" err="1"/>
              <a:t>Free</a:t>
            </a:r>
            <a:r>
              <a:rPr lang="ru-RU" sz="1200" dirty="0"/>
              <a:t> </a:t>
            </a:r>
            <a:r>
              <a:rPr lang="ru-RU" sz="1200" dirty="0" err="1"/>
              <a:t>services</a:t>
            </a:r>
            <a:r>
              <a:rPr lang="ru-RU" sz="1200" dirty="0"/>
              <a:t> </a:t>
            </a:r>
            <a:r>
              <a:rPr lang="ru-RU" sz="1200" dirty="0" err="1"/>
              <a:t>often</a:t>
            </a:r>
            <a:r>
              <a:rPr lang="ru-RU" sz="1200" dirty="0"/>
              <a:t> </a:t>
            </a:r>
            <a:r>
              <a:rPr lang="ru-RU" sz="1200" dirty="0" err="1"/>
              <a:t>trade</a:t>
            </a:r>
            <a:r>
              <a:rPr lang="ru-RU" sz="1200" dirty="0"/>
              <a:t> </a:t>
            </a:r>
            <a:r>
              <a:rPr lang="ru-RU" sz="1200" dirty="0" err="1"/>
              <a:t>user</a:t>
            </a:r>
            <a:r>
              <a:rPr lang="ru-RU" sz="1200" dirty="0"/>
              <a:t> </a:t>
            </a:r>
            <a:r>
              <a:rPr lang="ru-RU" sz="1200" dirty="0" err="1"/>
              <a:t>data</a:t>
            </a:r>
            <a:r>
              <a:rPr lang="ru-RU" sz="1200" dirty="0"/>
              <a:t>. </a:t>
            </a:r>
            <a:r>
              <a:rPr lang="ru-RU" sz="1200" dirty="0" err="1"/>
              <a:t>Choosing</a:t>
            </a:r>
            <a:r>
              <a:rPr lang="ru-RU" sz="1200" dirty="0"/>
              <a:t> a </a:t>
            </a:r>
            <a:r>
              <a:rPr lang="ru-RU" sz="1200" dirty="0" err="1"/>
              <a:t>provider</a:t>
            </a:r>
            <a:r>
              <a:rPr lang="ru-RU" sz="1200" dirty="0"/>
              <a:t> </a:t>
            </a:r>
            <a:r>
              <a:rPr lang="ru-RU" sz="1200" dirty="0" err="1"/>
              <a:t>with</a:t>
            </a:r>
            <a:r>
              <a:rPr lang="ru-RU" sz="1200" dirty="0"/>
              <a:t> a </a:t>
            </a:r>
            <a:r>
              <a:rPr lang="ru-RU" sz="1200" dirty="0" err="1"/>
              <a:t>strict</a:t>
            </a:r>
            <a:r>
              <a:rPr lang="ru-RU" sz="1200" dirty="0"/>
              <a:t> «</a:t>
            </a:r>
            <a:r>
              <a:rPr lang="ru-RU" sz="1200" dirty="0" err="1"/>
              <a:t>no-logs</a:t>
            </a:r>
            <a:r>
              <a:rPr lang="ru-RU" sz="1200" dirty="0"/>
              <a:t>» </a:t>
            </a:r>
            <a:r>
              <a:rPr lang="ru-RU" sz="1200" dirty="0" err="1"/>
              <a:t>policy</a:t>
            </a:r>
            <a:r>
              <a:rPr lang="ru-RU" sz="1200" dirty="0"/>
              <a:t> </a:t>
            </a:r>
            <a:r>
              <a:rPr lang="ru-RU" sz="1200" dirty="0" err="1"/>
              <a:t>is</a:t>
            </a:r>
            <a:r>
              <a:rPr lang="ru-RU" sz="1200" dirty="0"/>
              <a:t> </a:t>
            </a:r>
            <a:r>
              <a:rPr lang="ru-RU" sz="1200" dirty="0" err="1"/>
              <a:t>vital</a:t>
            </a:r>
            <a:r>
              <a:rPr lang="ru-RU" sz="1200" dirty="0"/>
              <a:t> </a:t>
            </a:r>
            <a:r>
              <a:rPr lang="ru-RU" sz="1200" dirty="0" err="1"/>
              <a:t>for</a:t>
            </a:r>
            <a:r>
              <a:rPr lang="ru-RU" sz="1200" dirty="0"/>
              <a:t> </a:t>
            </a:r>
            <a:r>
              <a:rPr lang="ru-RU" sz="1200" dirty="0" err="1"/>
              <a:t>true</a:t>
            </a:r>
            <a:r>
              <a:rPr lang="ru-RU" sz="1200" dirty="0"/>
              <a:t> </a:t>
            </a:r>
            <a:r>
              <a:rPr lang="ru-RU" sz="1200" dirty="0" err="1"/>
              <a:t>privacy</a:t>
            </a:r>
            <a:r>
              <a:rPr lang="ru-RU" sz="1200" dirty="0"/>
              <a:t>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16" y="3875706"/>
            <a:ext cx="257175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0125" y="3892200"/>
            <a:ext cx="421481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Consumption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000125" y="4260103"/>
            <a:ext cx="4214813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ru-RU" sz="1200" dirty="0" err="1"/>
              <a:t>Constant</a:t>
            </a:r>
            <a:r>
              <a:rPr lang="ru-RU" sz="1200" dirty="0"/>
              <a:t> </a:t>
            </a:r>
            <a:r>
              <a:rPr lang="ru-RU" sz="1200" dirty="0" err="1"/>
              <a:t>cryptographic</a:t>
            </a:r>
            <a:r>
              <a:rPr lang="ru-RU" sz="1200" dirty="0"/>
              <a:t> </a:t>
            </a:r>
            <a:r>
              <a:rPr lang="ru-RU" sz="1200" dirty="0" err="1"/>
              <a:t>operations</a:t>
            </a:r>
            <a:r>
              <a:rPr lang="ru-RU" sz="1200" dirty="0"/>
              <a:t> </a:t>
            </a:r>
            <a:r>
              <a:rPr lang="ru-RU" sz="1200" dirty="0" err="1"/>
              <a:t>create</a:t>
            </a:r>
            <a:r>
              <a:rPr lang="ru-RU" sz="1200" dirty="0"/>
              <a:t> </a:t>
            </a:r>
            <a:r>
              <a:rPr lang="ru-RU" sz="1200" dirty="0" err="1"/>
              <a:t>additional</a:t>
            </a:r>
            <a:r>
              <a:rPr lang="ru-RU" sz="1200" dirty="0"/>
              <a:t> </a:t>
            </a:r>
            <a:r>
              <a:rPr lang="ru-RU" sz="1200" dirty="0" err="1"/>
              <a:t>load</a:t>
            </a:r>
            <a:r>
              <a:rPr lang="ru-RU" sz="1200" dirty="0"/>
              <a:t> </a:t>
            </a:r>
            <a:r>
              <a:rPr lang="ru-RU" sz="1200" dirty="0" err="1"/>
              <a:t>and</a:t>
            </a:r>
            <a:r>
              <a:rPr lang="ru-RU" sz="1200" dirty="0"/>
              <a:t> </a:t>
            </a:r>
            <a:r>
              <a:rPr lang="ru-RU" sz="1200" dirty="0" err="1"/>
              <a:t>drain</a:t>
            </a:r>
            <a:r>
              <a:rPr lang="ru-RU" sz="1200" dirty="0"/>
              <a:t> </a:t>
            </a:r>
            <a:r>
              <a:rPr lang="ru-RU" sz="1200" dirty="0" err="1"/>
              <a:t>mobile</a:t>
            </a:r>
            <a:r>
              <a:rPr lang="ru-RU" sz="1200" dirty="0"/>
              <a:t> </a:t>
            </a:r>
            <a:r>
              <a:rPr lang="ru-RU" sz="1200" dirty="0" err="1"/>
              <a:t>device</a:t>
            </a:r>
            <a:r>
              <a:rPr lang="ru-RU" sz="1200" dirty="0"/>
              <a:t> </a:t>
            </a:r>
            <a:r>
              <a:rPr lang="ru-RU" sz="1200" dirty="0" err="1"/>
              <a:t>batteries</a:t>
            </a:r>
            <a:r>
              <a:rPr lang="ru-RU" sz="1200" dirty="0"/>
              <a:t> </a:t>
            </a:r>
            <a:r>
              <a:rPr lang="ru-RU" sz="1200" dirty="0" err="1"/>
              <a:t>faster</a:t>
            </a:r>
            <a:r>
              <a:rPr lang="ru-RU" sz="1200" dirty="0"/>
              <a:t> </a:t>
            </a:r>
            <a:r>
              <a:rPr lang="ru-RU" sz="1200" dirty="0" err="1"/>
              <a:t>than</a:t>
            </a:r>
            <a:r>
              <a:rPr lang="ru-RU" sz="1200" dirty="0"/>
              <a:t> </a:t>
            </a:r>
            <a:r>
              <a:rPr lang="ru-RU" sz="1200" dirty="0" err="1"/>
              <a:t>usual</a:t>
            </a:r>
            <a:r>
              <a:rPr lang="ru-RU" sz="1200" dirty="0"/>
              <a:t>.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761259" y="4629674"/>
            <a:ext cx="11702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98417"/>
            <a:ext cx="857250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7250" y="1527618"/>
            <a:ext cx="28575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85875" y="1545478"/>
            <a:ext cx="3987951" cy="2936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Kaspersky Lab: Cybersecurity Encyclopedia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85875" y="1843367"/>
            <a:ext cx="908262" cy="195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kaspersky.com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7250" y="2257704"/>
            <a:ext cx="28575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5875" y="2275563"/>
            <a:ext cx="4320542" cy="2936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Habr: Technical Review of WireGuard Protocol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285875" y="2573452"/>
            <a:ext cx="579582" cy="195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habr.com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7250" y="2987790"/>
            <a:ext cx="28575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5875" y="3005649"/>
            <a:ext cx="5501955" cy="2936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Cisco Documentation: Building Secure Corporate Networks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285875" y="3303538"/>
            <a:ext cx="616194" cy="195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cisco.com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7250" y="3717875"/>
            <a:ext cx="28575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85875" y="3735735"/>
            <a:ext cx="4690579" cy="2936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Selectel Portal: Comparison of Tunneling Methods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285875" y="4033624"/>
            <a:ext cx="785728" cy="195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selectel.com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726091" y="4702373"/>
            <a:ext cx="23403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8731" y="1853357"/>
            <a:ext cx="658653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for Your Attention!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357313" y="2778472"/>
            <a:ext cx="642937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Private Networks (VPN): Reliable Protection in the Digital World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398639" y="3617863"/>
            <a:ext cx="234672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 you have any questions?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7467-E72E-3A8A-8191-55FD842B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7A46805-2A15-430D-85FD-B4AAF30B7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D0E00EE-CB5D-9365-06F7-C19C8536FD6F}"/>
              </a:ext>
            </a:extLst>
          </p:cNvPr>
          <p:cNvSpPr/>
          <p:nvPr/>
        </p:nvSpPr>
        <p:spPr>
          <a:xfrm>
            <a:off x="0" y="285750"/>
            <a:ext cx="91440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kern="0" spc="2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PETROVSKIY COLLEGE</a:t>
            </a:r>
            <a:endParaRPr lang="en-US" sz="2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0808B34-A99C-539C-40AE-838460EA442E}"/>
              </a:ext>
            </a:extLst>
          </p:cNvPr>
          <p:cNvSpPr/>
          <p:nvPr/>
        </p:nvSpPr>
        <p:spPr>
          <a:xfrm>
            <a:off x="1113532" y="2214116"/>
            <a:ext cx="6916936" cy="1015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3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Virtual Private Networks (VPN)</a:t>
            </a:r>
            <a:endParaRPr lang="en-US" sz="3300" dirty="0"/>
          </a:p>
          <a:p>
            <a:pPr marL="0" indent="0" algn="ctr">
              <a:buNone/>
            </a:pPr>
            <a:endParaRPr lang="en-US" sz="3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CD6F59F-ED2F-DC1D-2E1F-76EE6FBDBD90}"/>
              </a:ext>
            </a:extLst>
          </p:cNvPr>
          <p:cNvSpPr/>
          <p:nvPr/>
        </p:nvSpPr>
        <p:spPr>
          <a:xfrm>
            <a:off x="1357312" y="2875762"/>
            <a:ext cx="6429375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ru-RU" sz="2000" dirty="0" err="1"/>
              <a:t>Modern</a:t>
            </a:r>
            <a:r>
              <a:rPr lang="ru-RU" sz="2000" dirty="0"/>
              <a:t> </a:t>
            </a:r>
            <a:r>
              <a:rPr lang="ru-RU" sz="2000" dirty="0" err="1"/>
              <a:t>methods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</a:t>
            </a:r>
            <a:r>
              <a:rPr lang="ru-RU" sz="2000" dirty="0" err="1"/>
              <a:t>ensuring</a:t>
            </a:r>
            <a:r>
              <a:rPr lang="ru-RU" sz="2000" dirty="0"/>
              <a:t> </a:t>
            </a:r>
            <a:r>
              <a:rPr lang="ru-RU" sz="2000" dirty="0" err="1"/>
              <a:t>security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privacy</a:t>
            </a:r>
            <a:r>
              <a:rPr lang="ru-RU" sz="2000" dirty="0"/>
              <a:t> </a:t>
            </a:r>
            <a:r>
              <a:rPr lang="ru-RU" sz="2000" dirty="0" err="1"/>
              <a:t>in</a:t>
            </a:r>
            <a:r>
              <a:rPr lang="ru-RU" sz="2000" dirty="0"/>
              <a:t> </a:t>
            </a:r>
            <a:r>
              <a:rPr lang="ru-RU" sz="2000" dirty="0" err="1"/>
              <a:t>global</a:t>
            </a:r>
            <a:r>
              <a:rPr lang="ru-RU" sz="2000" dirty="0"/>
              <a:t> </a:t>
            </a:r>
            <a:r>
              <a:rPr lang="ru-RU" sz="2000" dirty="0" err="1"/>
              <a:t>networks</a:t>
            </a:r>
            <a:endParaRPr lang="ru-RU" sz="2000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0012D21-1648-CEBB-CD69-FA5AD5A1EC5A}"/>
              </a:ext>
            </a:extLst>
          </p:cNvPr>
          <p:cNvSpPr/>
          <p:nvPr/>
        </p:nvSpPr>
        <p:spPr>
          <a:xfrm>
            <a:off x="4388048" y="4755952"/>
            <a:ext cx="365485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2026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89EE1AB-07F1-491A-F907-FE3069940156}"/>
              </a:ext>
            </a:extLst>
          </p:cNvPr>
          <p:cNvSpPr/>
          <p:nvPr/>
        </p:nvSpPr>
        <p:spPr>
          <a:xfrm>
            <a:off x="6573018" y="4100513"/>
            <a:ext cx="2427339" cy="108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2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Student: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Timofeev Ivan
</a:t>
            </a:r>
            <a:r>
              <a:rPr lang="en-US" sz="12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Group: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53-02
</a:t>
            </a:r>
            <a:r>
              <a:rPr lang="en-US" sz="12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Teacher: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Latysheva</a:t>
            </a:r>
            <a:r>
              <a:rPr lang="en-US" sz="1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Victoria</a:t>
            </a:r>
            <a:endParaRPr lang="en-US" sz="1400" dirty="0"/>
          </a:p>
          <a:p>
            <a:pPr marL="0" indent="0" algn="l">
              <a:lnSpc>
                <a:spcPct val="128000"/>
              </a:lnSpc>
              <a:buNone/>
            </a:pPr>
            <a:endParaRPr lang="en-US" sz="14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87DD64DD-86C3-9346-BB85-DDE34F3BB18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3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843" y="588985"/>
            <a:ext cx="570312" cy="57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90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604</Words>
  <Application>Microsoft Office PowerPoint</Application>
  <PresentationFormat>Экран (16:9)</PresentationFormat>
  <Paragraphs>105</Paragraphs>
  <Slides>12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Jesbyu Ivan</cp:lastModifiedBy>
  <cp:revision>6</cp:revision>
  <dcterms:created xsi:type="dcterms:W3CDTF">2026-06-16T17:40:20Z</dcterms:created>
  <dcterms:modified xsi:type="dcterms:W3CDTF">2026-06-17T07:58:48Z</dcterms:modified>
</cp:coreProperties>
</file>